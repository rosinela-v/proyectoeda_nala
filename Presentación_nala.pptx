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Fontuna Bold" charset="1" panose="00000000000000000000"/>
      <p:regular r:id="rId28"/>
    </p:embeddedFont>
    <p:embeddedFont>
      <p:font typeface="The Seasons" charset="1" panose="00000000000000000000"/>
      <p:regular r:id="rId29"/>
    </p:embeddedFont>
    <p:embeddedFont>
      <p:font typeface="Inter" charset="1" panose="020B0502030000000004"/>
      <p:regular r:id="rId30"/>
    </p:embeddedFont>
    <p:embeddedFont>
      <p:font typeface="Belleza" charset="1" panose="02000503050000020003"/>
      <p:regular r:id="rId31"/>
    </p:embeddedFont>
    <p:embeddedFont>
      <p:font typeface="Libre Baskerville" charset="1" panose="02000000000000000000"/>
      <p:regular r:id="rId32"/>
    </p:embeddedFont>
    <p:embeddedFont>
      <p:font typeface="Inter Bold" charset="1" panose="020B08020300000000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739640"/>
            <a:ext cx="18288000" cy="349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54"/>
              </a:lnSpc>
            </a:pPr>
            <a:r>
              <a:rPr lang="en-US" b="true" sz="25051">
                <a:solidFill>
                  <a:srgbClr val="FFFFFF"/>
                </a:solidFill>
                <a:latin typeface="Fontuna Bold"/>
                <a:ea typeface="Fontuna Bold"/>
                <a:cs typeface="Fontuna Bold"/>
                <a:sym typeface="Fontuna Bold"/>
              </a:rPr>
              <a:t>DE LOS LEUS AL EURO</a:t>
            </a:r>
          </a:p>
        </p:txBody>
      </p:sp>
      <p:sp>
        <p:nvSpPr>
          <p:cNvPr name="AutoShape 3" id="3"/>
          <p:cNvSpPr/>
          <p:nvPr/>
        </p:nvSpPr>
        <p:spPr>
          <a:xfrm>
            <a:off x="-1414694" y="735461"/>
            <a:ext cx="1809809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73453" y="9506079"/>
            <a:ext cx="18243397" cy="28129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0" y="5975884"/>
            <a:ext cx="18288000" cy="128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6"/>
              </a:lnSpc>
            </a:pPr>
            <a:r>
              <a:rPr lang="en-US" sz="860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Analisis exploratorio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073705" y="817726"/>
            <a:ext cx="4813034" cy="273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45"/>
              </a:lnSpc>
              <a:spcBef>
                <a:spcPct val="0"/>
              </a:spcBef>
            </a:pPr>
            <a:r>
              <a:rPr lang="en-US" sz="16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ROSINELA VEGA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683404" y="447513"/>
            <a:ext cx="575896" cy="575896"/>
          </a:xfrm>
          <a:custGeom>
            <a:avLst/>
            <a:gdLst/>
            <a:ahLst/>
            <a:cxnLst/>
            <a:rect r="r" b="b" t="t" l="l"/>
            <a:pathLst>
              <a:path h="575896" w="575896">
                <a:moveTo>
                  <a:pt x="0" y="0"/>
                </a:moveTo>
                <a:lnTo>
                  <a:pt x="575896" y="0"/>
                </a:lnTo>
                <a:lnTo>
                  <a:pt x="575896" y="575896"/>
                </a:lnTo>
                <a:lnTo>
                  <a:pt x="0" y="575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0752" y="9218131"/>
            <a:ext cx="575896" cy="575896"/>
          </a:xfrm>
          <a:custGeom>
            <a:avLst/>
            <a:gdLst/>
            <a:ahLst/>
            <a:cxnLst/>
            <a:rect r="r" b="b" t="t" l="l"/>
            <a:pathLst>
              <a:path h="575896" w="575896">
                <a:moveTo>
                  <a:pt x="0" y="0"/>
                </a:moveTo>
                <a:lnTo>
                  <a:pt x="575896" y="0"/>
                </a:lnTo>
                <a:lnTo>
                  <a:pt x="575896" y="575897"/>
                </a:lnTo>
                <a:lnTo>
                  <a:pt x="0" y="57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966671"/>
            <a:ext cx="16230600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De la lei la euro - </a:t>
            </a:r>
            <a:r>
              <a:rPr lang="en-US" sz="2699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A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n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aliza explora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t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ori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e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 a datelo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396" y="5463438"/>
            <a:ext cx="17969207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Un viaje de dos economías en u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na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 so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la 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Eu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ro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p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a</a:t>
            </a:r>
            <a:r>
              <a:rPr lang="en-US" sz="2699" strike="noStrike" u="none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15273" y="-256895"/>
            <a:ext cx="0" cy="12148372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22538" y="-1024525"/>
            <a:ext cx="0" cy="12148372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921821" y="9390728"/>
            <a:ext cx="20077204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867383" y="805684"/>
            <a:ext cx="20077204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05132" y="9100448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12396" y="9080586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12396" y="505473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4993" y="505473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7343" y="1885099"/>
            <a:ext cx="4971908" cy="4971908"/>
          </a:xfrm>
          <a:custGeom>
            <a:avLst/>
            <a:gdLst/>
            <a:ahLst/>
            <a:cxnLst/>
            <a:rect r="r" b="b" t="t" l="l"/>
            <a:pathLst>
              <a:path h="4971908" w="4971908">
                <a:moveTo>
                  <a:pt x="0" y="0"/>
                </a:moveTo>
                <a:lnTo>
                  <a:pt x="4971908" y="0"/>
                </a:lnTo>
                <a:lnTo>
                  <a:pt x="4971908" y="4971908"/>
                </a:lnTo>
                <a:lnTo>
                  <a:pt x="0" y="4971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82358" y="1028700"/>
            <a:ext cx="8376942" cy="7943009"/>
          </a:xfrm>
          <a:custGeom>
            <a:avLst/>
            <a:gdLst/>
            <a:ahLst/>
            <a:cxnLst/>
            <a:rect r="r" b="b" t="t" l="l"/>
            <a:pathLst>
              <a:path h="7943009" w="8376942">
                <a:moveTo>
                  <a:pt x="0" y="0"/>
                </a:moveTo>
                <a:lnTo>
                  <a:pt x="8376942" y="0"/>
                </a:lnTo>
                <a:lnTo>
                  <a:pt x="8376942" y="7943009"/>
                </a:lnTo>
                <a:lnTo>
                  <a:pt x="0" y="79430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87" t="0" r="-298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97864" y="7328963"/>
            <a:ext cx="6110170" cy="176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marca de cosmética natural y vegana que ofrece productos para el c</a:t>
            </a:r>
            <a:r>
              <a:rPr lang="en-US" sz="16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uidado del cuerpo, ma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nos, pies, cabello y ba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ño.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Sus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fórmulas des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tacan por ser naturales, artesanales, ecológi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cas y libr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 de crueldad an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imal, con fragancias intensas y varie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 de textura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23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15273" y="-256895"/>
            <a:ext cx="0" cy="12148372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22538" y="-1024525"/>
            <a:ext cx="0" cy="12148372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921821" y="9390728"/>
            <a:ext cx="20077204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867383" y="805684"/>
            <a:ext cx="20077204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05132" y="9100448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12396" y="9080586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12396" y="505473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4993" y="505473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7343" y="1885099"/>
            <a:ext cx="4971908" cy="4971908"/>
          </a:xfrm>
          <a:custGeom>
            <a:avLst/>
            <a:gdLst/>
            <a:ahLst/>
            <a:cxnLst/>
            <a:rect r="r" b="b" t="t" l="l"/>
            <a:pathLst>
              <a:path h="4971908" w="4971908">
                <a:moveTo>
                  <a:pt x="0" y="0"/>
                </a:moveTo>
                <a:lnTo>
                  <a:pt x="4971908" y="0"/>
                </a:lnTo>
                <a:lnTo>
                  <a:pt x="4971908" y="4971908"/>
                </a:lnTo>
                <a:lnTo>
                  <a:pt x="0" y="4971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82358" y="1028700"/>
            <a:ext cx="8376942" cy="7943009"/>
          </a:xfrm>
          <a:custGeom>
            <a:avLst/>
            <a:gdLst/>
            <a:ahLst/>
            <a:cxnLst/>
            <a:rect r="r" b="b" t="t" l="l"/>
            <a:pathLst>
              <a:path h="7943009" w="8376942">
                <a:moveTo>
                  <a:pt x="0" y="0"/>
                </a:moveTo>
                <a:lnTo>
                  <a:pt x="8376942" y="0"/>
                </a:lnTo>
                <a:lnTo>
                  <a:pt x="8376942" y="7943009"/>
                </a:lnTo>
                <a:lnTo>
                  <a:pt x="0" y="79430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87" t="0" r="-298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396592" y="5812993"/>
            <a:ext cx="489024" cy="727166"/>
          </a:xfrm>
          <a:custGeom>
            <a:avLst/>
            <a:gdLst/>
            <a:ahLst/>
            <a:cxnLst/>
            <a:rect r="r" b="b" t="t" l="l"/>
            <a:pathLst>
              <a:path h="727166" w="489024">
                <a:moveTo>
                  <a:pt x="0" y="0"/>
                </a:moveTo>
                <a:lnTo>
                  <a:pt x="489023" y="0"/>
                </a:lnTo>
                <a:lnTo>
                  <a:pt x="489023" y="727166"/>
                </a:lnTo>
                <a:lnTo>
                  <a:pt x="0" y="727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97864" y="7328963"/>
            <a:ext cx="6110170" cy="176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marca de cosmética natural y vegana que ofrece productos para el c</a:t>
            </a:r>
            <a:r>
              <a:rPr lang="en-US" sz="16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uidado del cuerpo, ma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nos, pies, cabello y ba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ño.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Sus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fórmulas des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tacan por ser naturales, artesanales, ecológi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cas y libr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 de crueldad an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imal, con fragancias intensas y varie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 de textura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6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2379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030455" y="4789442"/>
            <a:ext cx="489024" cy="727166"/>
          </a:xfrm>
          <a:custGeom>
            <a:avLst/>
            <a:gdLst/>
            <a:ahLst/>
            <a:cxnLst/>
            <a:rect r="r" b="b" t="t" l="l"/>
            <a:pathLst>
              <a:path h="727166" w="489024">
                <a:moveTo>
                  <a:pt x="0" y="0"/>
                </a:moveTo>
                <a:lnTo>
                  <a:pt x="489023" y="0"/>
                </a:lnTo>
                <a:lnTo>
                  <a:pt x="489023" y="727166"/>
                </a:lnTo>
                <a:lnTo>
                  <a:pt x="0" y="727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171484" y="6616359"/>
            <a:ext cx="939240" cy="50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6"/>
              </a:lnSpc>
            </a:pPr>
            <a:r>
              <a:rPr lang="en-US" sz="3600">
                <a:solidFill>
                  <a:srgbClr val="12121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14872" y="5554708"/>
            <a:ext cx="939240" cy="50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6"/>
              </a:lnSpc>
            </a:pPr>
            <a:r>
              <a:rPr lang="en-US" sz="3600">
                <a:solidFill>
                  <a:srgbClr val="12121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58300" y="1505159"/>
            <a:ext cx="8286486" cy="72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1"/>
              </a:lnSpc>
            </a:pPr>
          </a:p>
          <a:p>
            <a:pPr algn="l">
              <a:lnSpc>
                <a:spcPts val="3611"/>
              </a:lnSpc>
            </a:pPr>
            <a:r>
              <a:rPr lang="en-US" sz="2579" b="true">
                <a:solidFill>
                  <a:srgbClr val="121212"/>
                </a:solidFill>
                <a:latin typeface="Inter Bold"/>
                <a:ea typeface="Inter Bold"/>
                <a:cs typeface="Inter Bold"/>
                <a:sym typeface="Inter Bold"/>
              </a:rPr>
              <a:t>Contexto del Negocio</a:t>
            </a:r>
          </a:p>
          <a:p>
            <a:pPr algn="l" marL="556878" indent="-278439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Marca: Nala - Cosmética ética y sostenible</a:t>
            </a:r>
          </a:p>
          <a:p>
            <a:pPr algn="l" marL="556878" indent="-278439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Mercados: España y Rumanía</a:t>
            </a:r>
          </a:p>
          <a:p>
            <a:pPr algn="l" marL="556878" indent="-278439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Objetivo: Analizar adaptación de precios a realidades económicas locales</a:t>
            </a:r>
          </a:p>
          <a:p>
            <a:pPr algn="l" marL="556878" indent="-278439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Pregunta clave: ¿Es Nala igual de accesible en ambos mercados?</a:t>
            </a:r>
          </a:p>
          <a:p>
            <a:pPr algn="l">
              <a:lnSpc>
                <a:spcPts val="3611"/>
              </a:lnSpc>
            </a:pPr>
          </a:p>
          <a:p>
            <a:pPr algn="l">
              <a:lnSpc>
                <a:spcPts val="3611"/>
              </a:lnSpc>
            </a:pPr>
          </a:p>
          <a:p>
            <a:pPr algn="l">
              <a:lnSpc>
                <a:spcPts val="3611"/>
              </a:lnSpc>
            </a:pPr>
            <a:r>
              <a:rPr lang="en-US" sz="2579" b="true">
                <a:solidFill>
                  <a:srgbClr val="121212"/>
                </a:solidFill>
                <a:latin typeface="Inter Bold"/>
                <a:ea typeface="Inter Bold"/>
                <a:cs typeface="Inter Bold"/>
                <a:sym typeface="Inter Bold"/>
              </a:rPr>
              <a:t>Hipótesis</a:t>
            </a:r>
          </a:p>
          <a:p>
            <a:pPr algn="l">
              <a:lnSpc>
                <a:spcPts val="3611"/>
              </a:lnSpc>
            </a:pPr>
            <a:r>
              <a:rPr lang="en-US" sz="2579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¿Los precios en Rumanía son menos accesibles considerando poder adquisitivo?</a:t>
            </a:r>
          </a:p>
          <a:p>
            <a:pPr algn="l">
              <a:lnSpc>
                <a:spcPts val="3611"/>
              </a:lnSpc>
            </a:pPr>
            <a:r>
              <a:rPr lang="en-US" sz="2579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¿Existen diferencias significativas en mix de productos?</a:t>
            </a:r>
          </a:p>
          <a:p>
            <a:pPr algn="l">
              <a:lnSpc>
                <a:spcPts val="273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41929"/>
            <a:ext cx="7329615" cy="546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00"/>
              </a:lnSpc>
            </a:pPr>
            <a:r>
              <a:rPr lang="en-US" b="true" sz="20000">
                <a:solidFill>
                  <a:srgbClr val="121212"/>
                </a:solidFill>
                <a:latin typeface="Fontuna Bold"/>
                <a:ea typeface="Fontuna Bold"/>
                <a:cs typeface="Fontuna Bold"/>
                <a:sym typeface="Fontuna Bold"/>
              </a:rPr>
              <a:t>OBJETIVO DEL ESTUDIO</a:t>
            </a:r>
          </a:p>
        </p:txBody>
      </p:sp>
      <p:sp>
        <p:nvSpPr>
          <p:cNvPr name="AutoShape 4" id="4"/>
          <p:cNvSpPr/>
          <p:nvPr/>
        </p:nvSpPr>
        <p:spPr>
          <a:xfrm>
            <a:off x="8972814" y="8511910"/>
            <a:ext cx="8132995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8972814" y="1757246"/>
            <a:ext cx="8132995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12385" y="1806413"/>
            <a:ext cx="5253144" cy="6674173"/>
            <a:chOff x="0" y="0"/>
            <a:chExt cx="7004192" cy="8898898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0" y="3191192"/>
              <a:ext cx="5707706" cy="570770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2121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400000">
              <a:off x="1296486" y="0"/>
              <a:ext cx="5707706" cy="570770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2121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104804" y="2012442"/>
            <a:ext cx="4856945" cy="6262798"/>
            <a:chOff x="0" y="0"/>
            <a:chExt cx="6475927" cy="8350397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2"/>
            <a:srcRect l="12877" t="0" r="35373" b="0"/>
            <a:stretch>
              <a:fillRect/>
            </a:stretch>
          </p:blipFill>
          <p:spPr>
            <a:xfrm flipH="false" flipV="false">
              <a:off x="0" y="0"/>
              <a:ext cx="6475927" cy="8350397"/>
            </a:xfrm>
            <a:prstGeom prst="rect">
              <a:avLst/>
            </a:prstGeom>
          </p:spPr>
        </p:pic>
      </p:grpSp>
      <p:sp>
        <p:nvSpPr>
          <p:cNvPr name="AutoShape 11" id="11"/>
          <p:cNvSpPr/>
          <p:nvPr/>
        </p:nvSpPr>
        <p:spPr>
          <a:xfrm flipV="true">
            <a:off x="715273" y="-256895"/>
            <a:ext cx="0" cy="12148372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7622538" y="-1024525"/>
            <a:ext cx="0" cy="12148372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-921821" y="9390728"/>
            <a:ext cx="20077204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>
            <a:off x="-867383" y="805684"/>
            <a:ext cx="20077204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405132" y="9100448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312396" y="9080586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312396" y="505473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24993" y="505473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011800" y="805684"/>
            <a:ext cx="8564214" cy="233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52"/>
              </a:lnSpc>
            </a:pPr>
            <a:r>
              <a:rPr lang="en-US" b="true" sz="16263" spc="1073">
                <a:solidFill>
                  <a:srgbClr val="121212"/>
                </a:solidFill>
                <a:latin typeface="Fontuna Bold"/>
                <a:ea typeface="Fontuna Bold"/>
                <a:cs typeface="Fontuna Bold"/>
                <a:sym typeface="Fontuna Bold"/>
              </a:rPr>
              <a:t>METODOLOGÍA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59005" y="3668395"/>
            <a:ext cx="8003105" cy="558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00" b="true">
                <a:solidFill>
                  <a:srgbClr val="121212"/>
                </a:solidFill>
                <a:latin typeface="Inter Bold"/>
                <a:ea typeface="Inter Bold"/>
                <a:cs typeface="Inter Bold"/>
                <a:sym typeface="Inter Bold"/>
              </a:rPr>
              <a:t>WEBSCRAPER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España: Nala.es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Rumanía: Nala.ro</a:t>
            </a:r>
          </a:p>
          <a:p>
            <a:pPr algn="l">
              <a:lnSpc>
                <a:spcPts val="3220"/>
              </a:lnSpc>
            </a:p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00" b="true">
                <a:solidFill>
                  <a:srgbClr val="121212"/>
                </a:solidFill>
                <a:latin typeface="Inter Bold"/>
                <a:ea typeface="Inter Bold"/>
                <a:cs typeface="Inter Bold"/>
                <a:sym typeface="Inter Bold"/>
              </a:rPr>
              <a:t>FUENTES DE INFORMACIÓN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España: 381 productos (nala_es.csv)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Rumanía: 342 productos (nala_ro.csv)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Total dataset: 723 productos</a:t>
            </a:r>
          </a:p>
          <a:p>
            <a:pPr algn="ctr">
              <a:lnSpc>
                <a:spcPts val="3220"/>
              </a:lnSpc>
            </a:pPr>
          </a:p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121212"/>
                </a:solidFill>
                <a:latin typeface="Inter Bold"/>
                <a:ea typeface="Inter Bold"/>
                <a:cs typeface="Inter Bold"/>
                <a:sym typeface="Inter Bold"/>
              </a:rPr>
              <a:t>PROCESO DE LIMPIEZA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✓ Filtrado de packs y sets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✓ Eliminación categoría "Otro"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✓ Normalización de formatos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✓ Dataset final combinado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16155" y="2569985"/>
            <a:ext cx="7945955" cy="86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2"/>
              </a:lnSpc>
            </a:pPr>
            <a:r>
              <a:rPr lang="en-US" sz="5738">
                <a:solidFill>
                  <a:srgbClr val="121212"/>
                </a:solidFill>
                <a:latin typeface="The Seasons"/>
                <a:ea typeface="The Seasons"/>
                <a:cs typeface="The Seasons"/>
                <a:sym typeface="The Seasons"/>
              </a:rPr>
              <a:t>y datos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15273" y="-256895"/>
            <a:ext cx="0" cy="1214837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622538" y="-1024525"/>
            <a:ext cx="0" cy="1214837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921821" y="9390728"/>
            <a:ext cx="2007720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867383" y="805684"/>
            <a:ext cx="2007720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05132" y="9100448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12396" y="9080586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12396" y="505473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4993" y="505473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30263" y="1125756"/>
            <a:ext cx="8658957" cy="7974691"/>
          </a:xfrm>
          <a:custGeom>
            <a:avLst/>
            <a:gdLst/>
            <a:ahLst/>
            <a:cxnLst/>
            <a:rect r="r" b="b" t="t" l="l"/>
            <a:pathLst>
              <a:path h="7974691" w="8658957">
                <a:moveTo>
                  <a:pt x="0" y="0"/>
                </a:moveTo>
                <a:lnTo>
                  <a:pt x="8658958" y="0"/>
                </a:lnTo>
                <a:lnTo>
                  <a:pt x="8658958" y="7974692"/>
                </a:lnTo>
                <a:lnTo>
                  <a:pt x="0" y="7974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31" t="-4015" r="0" b="-850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1201" y="1986028"/>
            <a:ext cx="6829938" cy="613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00"/>
              </a:lnSpc>
            </a:pPr>
            <a:r>
              <a:rPr lang="en-US" b="true" sz="15000">
                <a:solidFill>
                  <a:srgbClr val="FFFFFF"/>
                </a:solidFill>
                <a:latin typeface="Fontuna Bold"/>
                <a:ea typeface="Fontuna Bold"/>
                <a:cs typeface="Fontuna Bold"/>
                <a:sym typeface="Fontuna Bold"/>
              </a:rPr>
              <a:t>ANALISIS GENERAL</a:t>
            </a:r>
          </a:p>
          <a:p>
            <a:pPr algn="r">
              <a:lnSpc>
                <a:spcPts val="15900"/>
              </a:lnSpc>
            </a:pPr>
            <a:r>
              <a:rPr lang="en-US" b="true" sz="15000">
                <a:solidFill>
                  <a:srgbClr val="FFFFFF"/>
                </a:solidFill>
                <a:latin typeface="Fontuna Bold"/>
                <a:ea typeface="Fontuna Bold"/>
                <a:cs typeface="Fontuna Bold"/>
                <a:sym typeface="Fontuna Bold"/>
              </a:rPr>
              <a:t>DE MERCADO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14694" y="735461"/>
            <a:ext cx="2016224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749971" y="9534209"/>
            <a:ext cx="2066682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992271" y="3511628"/>
            <a:ext cx="12303458" cy="4768376"/>
          </a:xfrm>
          <a:custGeom>
            <a:avLst/>
            <a:gdLst/>
            <a:ahLst/>
            <a:cxnLst/>
            <a:rect r="r" b="b" t="t" l="l"/>
            <a:pathLst>
              <a:path h="4768376" w="12303458">
                <a:moveTo>
                  <a:pt x="0" y="0"/>
                </a:moveTo>
                <a:lnTo>
                  <a:pt x="12303458" y="0"/>
                </a:lnTo>
                <a:lnTo>
                  <a:pt x="12303458" y="4768376"/>
                </a:lnTo>
                <a:lnTo>
                  <a:pt x="0" y="4768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7618" y="1240351"/>
            <a:ext cx="17065057" cy="182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86"/>
              </a:lnSpc>
            </a:pPr>
            <a:r>
              <a:rPr lang="en-US" b="true" sz="13100">
                <a:solidFill>
                  <a:srgbClr val="FFFFFF"/>
                </a:solidFill>
                <a:latin typeface="Fontuna Bold"/>
                <a:ea typeface="Fontuna Bold"/>
                <a:cs typeface="Fontuna Bold"/>
                <a:sym typeface="Fontuna Bold"/>
              </a:rPr>
              <a:t>PRECIOS POR SUBCATEGORIAS DETALLADAS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781267" y="2834805"/>
            <a:ext cx="3192034" cy="319203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33703" lIns="33703" bIns="33703" rIns="33703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4215612" y="2125018"/>
            <a:ext cx="3192034" cy="319203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33703" lIns="33703" bIns="33703" rIns="33703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85984" y="2282800"/>
            <a:ext cx="10397836" cy="3988038"/>
            <a:chOff x="0" y="0"/>
            <a:chExt cx="13863782" cy="5317384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2"/>
            <a:srcRect l="3802" t="0" r="3802" b="0"/>
            <a:stretch>
              <a:fillRect/>
            </a:stretch>
          </p:blipFill>
          <p:spPr>
            <a:xfrm flipH="false" flipV="false">
              <a:off x="0" y="0"/>
              <a:ext cx="13863782" cy="5317384"/>
            </a:xfrm>
            <a:prstGeom prst="rect">
              <a:avLst/>
            </a:prstGeom>
          </p:spPr>
        </p:pic>
      </p:grpSp>
      <p:sp>
        <p:nvSpPr>
          <p:cNvPr name="TextBox 10" id="10"/>
          <p:cNvSpPr txBox="true"/>
          <p:nvPr/>
        </p:nvSpPr>
        <p:spPr>
          <a:xfrm rot="0">
            <a:off x="2032730" y="843784"/>
            <a:ext cx="13447276" cy="1810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6"/>
              </a:lnSpc>
            </a:pPr>
            <a:r>
              <a:rPr lang="en-US" b="true" sz="12564">
                <a:solidFill>
                  <a:srgbClr val="121212"/>
                </a:solidFill>
                <a:latin typeface="Fontuna Bold"/>
                <a:ea typeface="Fontuna Bold"/>
                <a:cs typeface="Fontuna Bold"/>
                <a:sym typeface="Fontuna Bold"/>
              </a:rPr>
              <a:t>DISTRIBUCION DE PRECIOS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34530" y="6701753"/>
            <a:ext cx="5647293" cy="239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938" b="true">
                <a:solidFill>
                  <a:srgbClr val="121212"/>
                </a:solidFill>
                <a:latin typeface="Inter Bold"/>
                <a:ea typeface="Inter Bold"/>
                <a:cs typeface="Inter Bold"/>
                <a:sym typeface="Inter Bold"/>
              </a:rPr>
              <a:t>HISTOGRAMA COMPARATIVO</a:t>
            </a:r>
          </a:p>
          <a:p>
            <a:pPr algn="l">
              <a:lnSpc>
                <a:spcPts val="2713"/>
              </a:lnSpc>
            </a:pPr>
          </a:p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ESPAÑA: Distribución concentrada (€0-€15)</a:t>
            </a:r>
          </a:p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RUMANÍA: Mayor dispersión con cola larga</a:t>
            </a:r>
          </a:p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INSIGHT: Mayor variabilidad en mercado rumano</a:t>
            </a:r>
          </a:p>
          <a:p>
            <a:pPr algn="l">
              <a:lnSpc>
                <a:spcPts val="2713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5400000">
            <a:off x="7411923" y="6112563"/>
            <a:ext cx="3192034" cy="31920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33703" lIns="33703" bIns="33703" rIns="33703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329715" y="5984614"/>
            <a:ext cx="3192034" cy="319203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33703" lIns="33703" bIns="33703" rIns="33703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42146" y="6103039"/>
            <a:ext cx="9047512" cy="3073609"/>
            <a:chOff x="0" y="0"/>
            <a:chExt cx="12063349" cy="4098145"/>
          </a:xfrm>
        </p:grpSpPr>
        <p:pic>
          <p:nvPicPr>
            <p:cNvPr name="Picture 19" id="19"/>
            <p:cNvPicPr>
              <a:picLocks noChangeAspect="true"/>
            </p:cNvPicPr>
            <p:nvPr/>
          </p:nvPicPr>
          <p:blipFill>
            <a:blip r:embed="rId3"/>
            <a:srcRect l="0" t="2816" r="0" b="2816"/>
            <a:stretch>
              <a:fillRect/>
            </a:stretch>
          </p:blipFill>
          <p:spPr>
            <a:xfrm flipH="false" flipV="false">
              <a:off x="0" y="0"/>
              <a:ext cx="12063349" cy="4098145"/>
            </a:xfrm>
            <a:prstGeom prst="rect">
              <a:avLst/>
            </a:prstGeom>
          </p:spPr>
        </p:pic>
      </p:grpSp>
      <p:sp>
        <p:nvSpPr>
          <p:cNvPr name="AutoShape 20" id="20"/>
          <p:cNvSpPr/>
          <p:nvPr/>
        </p:nvSpPr>
        <p:spPr>
          <a:xfrm flipV="true">
            <a:off x="715273" y="-256895"/>
            <a:ext cx="0" cy="12148372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17622538" y="-1024525"/>
            <a:ext cx="0" cy="12148372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-921821" y="9390728"/>
            <a:ext cx="20077204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>
            <a:off x="-867383" y="805684"/>
            <a:ext cx="20077204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405132" y="9100448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312396" y="9080586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7312396" y="505473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24993" y="505473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33973" y="3207662"/>
            <a:ext cx="5647293" cy="239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938" b="true">
                <a:solidFill>
                  <a:srgbClr val="121212"/>
                </a:solidFill>
                <a:latin typeface="Inter Bold"/>
                <a:ea typeface="Inter Bold"/>
                <a:cs typeface="Inter Bold"/>
                <a:sym typeface="Inter Bold"/>
              </a:rPr>
              <a:t>BOXPLOT ANÁLISIS</a:t>
            </a:r>
          </a:p>
          <a:p>
            <a:pPr algn="l">
              <a:lnSpc>
                <a:spcPts val="2713"/>
              </a:lnSpc>
            </a:pPr>
          </a:p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España: Rango estrecho (€4.9 - €9.9)</a:t>
            </a:r>
          </a:p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Rumanía: Dispersión amplia (19.9 - 53.4 LEI)</a:t>
            </a:r>
          </a:p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• Conclusión: Precios más variables en Rumanía</a:t>
            </a:r>
          </a:p>
          <a:p>
            <a:pPr algn="l">
              <a:lnSpc>
                <a:spcPts val="2713"/>
              </a:lnSpc>
            </a:pPr>
          </a:p>
          <a:p>
            <a:pPr algn="l">
              <a:lnSpc>
                <a:spcPts val="271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4225137" y="3585583"/>
            <a:ext cx="3192034" cy="319203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33703" lIns="33703" bIns="33703" rIns="33703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32730" y="843784"/>
            <a:ext cx="13447276" cy="1810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6"/>
              </a:lnSpc>
            </a:pPr>
            <a:r>
              <a:rPr lang="en-US" b="true" sz="12564">
                <a:solidFill>
                  <a:srgbClr val="121212"/>
                </a:solidFill>
                <a:latin typeface="Fontuna Bold"/>
                <a:ea typeface="Fontuna Bold"/>
                <a:cs typeface="Fontuna Bold"/>
                <a:sym typeface="Fontuna Bold"/>
              </a:rPr>
              <a:t>COMPARACION DE PRECIOS</a:t>
            </a:r>
          </a:p>
        </p:txBody>
      </p:sp>
      <p:grpSp>
        <p:nvGrpSpPr>
          <p:cNvPr name="Group 6" id="6"/>
          <p:cNvGrpSpPr/>
          <p:nvPr/>
        </p:nvGrpSpPr>
        <p:grpSpPr>
          <a:xfrm rot="5400000">
            <a:off x="1367815" y="5307527"/>
            <a:ext cx="3192034" cy="319203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33703" lIns="33703" bIns="33703" rIns="33703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715273" y="-256895"/>
            <a:ext cx="0" cy="12148372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7622538" y="-1024525"/>
            <a:ext cx="0" cy="12148372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-921821" y="9390728"/>
            <a:ext cx="20077204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-867383" y="805684"/>
            <a:ext cx="20077204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405132" y="9100448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312396" y="9080586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12396" y="505473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24993" y="505473"/>
            <a:ext cx="600422" cy="600422"/>
          </a:xfrm>
          <a:custGeom>
            <a:avLst/>
            <a:gdLst/>
            <a:ahLst/>
            <a:cxnLst/>
            <a:rect r="r" b="b" t="t" l="l"/>
            <a:pathLst>
              <a:path h="600422" w="600422">
                <a:moveTo>
                  <a:pt x="0" y="0"/>
                </a:moveTo>
                <a:lnTo>
                  <a:pt x="600422" y="0"/>
                </a:lnTo>
                <a:lnTo>
                  <a:pt x="600422" y="600422"/>
                </a:lnTo>
                <a:lnTo>
                  <a:pt x="0" y="60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63454" y="3745257"/>
            <a:ext cx="15695846" cy="4544962"/>
          </a:xfrm>
          <a:custGeom>
            <a:avLst/>
            <a:gdLst/>
            <a:ahLst/>
            <a:cxnLst/>
            <a:rect r="r" b="b" t="t" l="l"/>
            <a:pathLst>
              <a:path h="4544962" w="15695846">
                <a:moveTo>
                  <a:pt x="0" y="0"/>
                </a:moveTo>
                <a:lnTo>
                  <a:pt x="15695846" y="0"/>
                </a:lnTo>
                <a:lnTo>
                  <a:pt x="15695846" y="4544962"/>
                </a:lnTo>
                <a:lnTo>
                  <a:pt x="0" y="454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887861"/>
            <a:ext cx="18288000" cy="160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6"/>
              </a:lnSpc>
            </a:pPr>
            <a:r>
              <a:rPr lang="en-US" b="true" sz="11600">
                <a:solidFill>
                  <a:srgbClr val="121212"/>
                </a:solidFill>
                <a:latin typeface="Fontuna Bold"/>
                <a:ea typeface="Fontuna Bold"/>
                <a:cs typeface="Fontuna Bold"/>
                <a:sym typeface="Fontuna Bold"/>
              </a:rPr>
              <a:t>ANALISIS POR CATEGORIA GENERAL</a:t>
            </a:r>
          </a:p>
        </p:txBody>
      </p:sp>
      <p:sp>
        <p:nvSpPr>
          <p:cNvPr name="AutoShape 3" id="3"/>
          <p:cNvSpPr/>
          <p:nvPr/>
        </p:nvSpPr>
        <p:spPr>
          <a:xfrm>
            <a:off x="-1414694" y="735461"/>
            <a:ext cx="20162241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749971" y="9534209"/>
            <a:ext cx="20666822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052286" y="2762784"/>
            <a:ext cx="12183429" cy="4799533"/>
          </a:xfrm>
          <a:custGeom>
            <a:avLst/>
            <a:gdLst/>
            <a:ahLst/>
            <a:cxnLst/>
            <a:rect r="r" b="b" t="t" l="l"/>
            <a:pathLst>
              <a:path h="4799533" w="12183429">
                <a:moveTo>
                  <a:pt x="0" y="0"/>
                </a:moveTo>
                <a:lnTo>
                  <a:pt x="12183428" y="0"/>
                </a:lnTo>
                <a:lnTo>
                  <a:pt x="12183428" y="4799532"/>
                </a:lnTo>
                <a:lnTo>
                  <a:pt x="0" y="4799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22575" y="7609941"/>
            <a:ext cx="15242849" cy="20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8455" indent="-209227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Los precios promedio en España son consistentemente más altos que en Rumanía en todas las categorías.</a:t>
            </a:r>
          </a:p>
          <a:p>
            <a:pPr algn="l" marL="418455" indent="-209227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Las mayores diferencias se observan en “Rostro” (España: 10,09 € vs Rumanía: 8,82 €) y “Cabello” (8,97 € vs 7,07 €).</a:t>
            </a:r>
          </a:p>
          <a:p>
            <a:pPr algn="l" marL="418455" indent="-209227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La categoría “Ducha y Baño” muestra los precios más bajos en ambos mercados.</a:t>
            </a:r>
          </a:p>
          <a:p>
            <a:pPr algn="l" marL="418455" indent="-209227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Esto sugiere que el posicionamiento de Nala en España es ligeramente más premium, mientras que en Rumanía se ajusta a un nivel de precios más competitivo.</a:t>
            </a:r>
          </a:p>
          <a:p>
            <a:pPr algn="l">
              <a:lnSpc>
                <a:spcPts val="2713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878336"/>
            <a:ext cx="18288000" cy="160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6"/>
              </a:lnSpc>
            </a:pPr>
            <a:r>
              <a:rPr lang="en-US" b="true" sz="11600">
                <a:solidFill>
                  <a:srgbClr val="121212"/>
                </a:solidFill>
                <a:latin typeface="Fontuna Bold"/>
                <a:ea typeface="Fontuna Bold"/>
                <a:cs typeface="Fontuna Bold"/>
                <a:sym typeface="Fontuna Bold"/>
              </a:rPr>
              <a:t>ANALISIS POR CATEGORIA ESPECIFICA</a:t>
            </a:r>
          </a:p>
        </p:txBody>
      </p:sp>
      <p:sp>
        <p:nvSpPr>
          <p:cNvPr name="AutoShape 3" id="3"/>
          <p:cNvSpPr/>
          <p:nvPr/>
        </p:nvSpPr>
        <p:spPr>
          <a:xfrm>
            <a:off x="-1414694" y="735461"/>
            <a:ext cx="20162241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749971" y="9534209"/>
            <a:ext cx="20666822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51735" y="2286118"/>
            <a:ext cx="14784530" cy="7143316"/>
          </a:xfrm>
          <a:custGeom>
            <a:avLst/>
            <a:gdLst/>
            <a:ahLst/>
            <a:cxnLst/>
            <a:rect r="r" b="b" t="t" l="l"/>
            <a:pathLst>
              <a:path h="7143316" w="14784530">
                <a:moveTo>
                  <a:pt x="0" y="0"/>
                </a:moveTo>
                <a:lnTo>
                  <a:pt x="14784530" y="0"/>
                </a:lnTo>
                <a:lnTo>
                  <a:pt x="14784530" y="7143316"/>
                </a:lnTo>
                <a:lnTo>
                  <a:pt x="0" y="7143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56321" y="1496064"/>
            <a:ext cx="14466925" cy="8762361"/>
          </a:xfrm>
          <a:custGeom>
            <a:avLst/>
            <a:gdLst/>
            <a:ahLst/>
            <a:cxnLst/>
            <a:rect r="r" b="b" t="t" l="l"/>
            <a:pathLst>
              <a:path h="8762361" w="14466925">
                <a:moveTo>
                  <a:pt x="0" y="0"/>
                </a:moveTo>
                <a:lnTo>
                  <a:pt x="14466925" y="0"/>
                </a:lnTo>
                <a:lnTo>
                  <a:pt x="14466925" y="8762361"/>
                </a:lnTo>
                <a:lnTo>
                  <a:pt x="0" y="8762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7" t="-3658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7870" y="123825"/>
            <a:ext cx="1727226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9"/>
              </a:lnSpc>
            </a:pPr>
            <a:r>
              <a:rPr lang="en-US" b="true" sz="9999">
                <a:solidFill>
                  <a:srgbClr val="121212"/>
                </a:solidFill>
                <a:latin typeface="Fontuna Bold"/>
                <a:ea typeface="Fontuna Bold"/>
                <a:cs typeface="Fontuna Bold"/>
                <a:sym typeface="Fontuna Bold"/>
              </a:rPr>
              <a:t>PRODUCTOS MAS CAROS VS MAS ECONOMICOS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56321" y="1496064"/>
            <a:ext cx="14466925" cy="8762361"/>
          </a:xfrm>
          <a:custGeom>
            <a:avLst/>
            <a:gdLst/>
            <a:ahLst/>
            <a:cxnLst/>
            <a:rect r="r" b="b" t="t" l="l"/>
            <a:pathLst>
              <a:path h="8762361" w="14466925">
                <a:moveTo>
                  <a:pt x="0" y="0"/>
                </a:moveTo>
                <a:lnTo>
                  <a:pt x="14466925" y="0"/>
                </a:lnTo>
                <a:lnTo>
                  <a:pt x="14466925" y="8762361"/>
                </a:lnTo>
                <a:lnTo>
                  <a:pt x="0" y="8762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7" t="-3658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7870" y="123825"/>
            <a:ext cx="1727226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9"/>
              </a:lnSpc>
            </a:pPr>
            <a:r>
              <a:rPr lang="en-US" b="true" sz="9999">
                <a:solidFill>
                  <a:srgbClr val="121212"/>
                </a:solidFill>
                <a:latin typeface="Fontuna Bold"/>
                <a:ea typeface="Fontuna Bold"/>
                <a:cs typeface="Fontuna Bold"/>
                <a:sym typeface="Fontuna Bold"/>
              </a:rPr>
              <a:t>PRODUCTOS MAS CAROS VS MAS ECONOMICOS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4616" y="8389149"/>
            <a:ext cx="5845943" cy="169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Rumanía compite en precio en productos masivos, pero se posiciona como premium en productos especializados, mientras España mantiene coherencia en su estructura de precios.</a:t>
            </a:r>
          </a:p>
          <a:p>
            <a:pPr algn="l">
              <a:lnSpc>
                <a:spcPts val="2713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13546226" y="5974514"/>
            <a:ext cx="987905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3546226" y="8654659"/>
            <a:ext cx="987905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546226" y="9530167"/>
            <a:ext cx="987905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546226" y="5515971"/>
            <a:ext cx="987905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14694" y="735461"/>
            <a:ext cx="2016224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749971" y="9534209"/>
            <a:ext cx="2066682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27618" y="2521212"/>
            <a:ext cx="8532529" cy="3692804"/>
          </a:xfrm>
          <a:custGeom>
            <a:avLst/>
            <a:gdLst/>
            <a:ahLst/>
            <a:cxnLst/>
            <a:rect r="r" b="b" t="t" l="l"/>
            <a:pathLst>
              <a:path h="3692804" w="8532529">
                <a:moveTo>
                  <a:pt x="0" y="0"/>
                </a:moveTo>
                <a:lnTo>
                  <a:pt x="8532528" y="0"/>
                </a:lnTo>
                <a:lnTo>
                  <a:pt x="8532528" y="3692804"/>
                </a:lnTo>
                <a:lnTo>
                  <a:pt x="0" y="3692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76" r="-1107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5218699"/>
            <a:ext cx="8935128" cy="4147488"/>
          </a:xfrm>
          <a:custGeom>
            <a:avLst/>
            <a:gdLst/>
            <a:ahLst/>
            <a:cxnLst/>
            <a:rect r="r" b="b" t="t" l="l"/>
            <a:pathLst>
              <a:path h="4147488" w="8935128">
                <a:moveTo>
                  <a:pt x="0" y="0"/>
                </a:moveTo>
                <a:lnTo>
                  <a:pt x="8935128" y="0"/>
                </a:lnTo>
                <a:lnTo>
                  <a:pt x="8935128" y="4147488"/>
                </a:lnTo>
                <a:lnTo>
                  <a:pt x="0" y="4147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74" r="-9646" b="-1241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7618" y="840236"/>
            <a:ext cx="17065057" cy="170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2"/>
              </a:lnSpc>
            </a:pPr>
            <a:r>
              <a:rPr lang="en-US" b="true" sz="12200">
                <a:solidFill>
                  <a:srgbClr val="FFFFFF"/>
                </a:solidFill>
                <a:latin typeface="Fontuna Bold"/>
                <a:ea typeface="Fontuna Bold"/>
                <a:cs typeface="Fontuna Bold"/>
                <a:sym typeface="Fontuna Bold"/>
              </a:rPr>
              <a:t>ANALISIS DE PRODUCTO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43911" y="4440255"/>
            <a:ext cx="8137225" cy="68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13"/>
              </a:lnSpc>
            </a:pPr>
            <a:r>
              <a:rPr lang="en-US" sz="1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españa podemos ver que el mismo producto tiene </a:t>
            </a:r>
          </a:p>
          <a:p>
            <a:pPr algn="r">
              <a:lnSpc>
                <a:spcPts val="2713"/>
              </a:lnSpc>
            </a:pPr>
            <a:r>
              <a:rPr lang="en-US" sz="1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 precio diferente 19.90 euros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7618" y="6290216"/>
            <a:ext cx="8137225" cy="68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Romania podemos apreciar que el producto tiene un costo de 119.90 lei al cambio unos 23.57 euros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47630" y="1520825"/>
            <a:ext cx="14132500" cy="8559001"/>
          </a:xfrm>
          <a:custGeom>
            <a:avLst/>
            <a:gdLst/>
            <a:ahLst/>
            <a:cxnLst/>
            <a:rect r="r" b="b" t="t" l="l"/>
            <a:pathLst>
              <a:path h="8559001" w="14132500">
                <a:moveTo>
                  <a:pt x="0" y="0"/>
                </a:moveTo>
                <a:lnTo>
                  <a:pt x="14132500" y="0"/>
                </a:lnTo>
                <a:lnTo>
                  <a:pt x="14132500" y="8559001"/>
                </a:lnTo>
                <a:lnTo>
                  <a:pt x="0" y="855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7" t="-4619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32205" y="7690864"/>
            <a:ext cx="675862" cy="464357"/>
          </a:xfrm>
          <a:custGeom>
            <a:avLst/>
            <a:gdLst/>
            <a:ahLst/>
            <a:cxnLst/>
            <a:rect r="r" b="b" t="t" l="l"/>
            <a:pathLst>
              <a:path h="464357" w="675862">
                <a:moveTo>
                  <a:pt x="0" y="0"/>
                </a:moveTo>
                <a:lnTo>
                  <a:pt x="675862" y="0"/>
                </a:lnTo>
                <a:lnTo>
                  <a:pt x="675862" y="464357"/>
                </a:lnTo>
                <a:lnTo>
                  <a:pt x="0" y="464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2627" t="-1141961" r="-115611" b="-60123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91178" y="7690864"/>
            <a:ext cx="3888952" cy="429264"/>
          </a:xfrm>
          <a:custGeom>
            <a:avLst/>
            <a:gdLst/>
            <a:ahLst/>
            <a:cxnLst/>
            <a:rect r="r" b="b" t="t" l="l"/>
            <a:pathLst>
              <a:path h="429264" w="3888952">
                <a:moveTo>
                  <a:pt x="0" y="0"/>
                </a:moveTo>
                <a:lnTo>
                  <a:pt x="3888952" y="0"/>
                </a:lnTo>
                <a:lnTo>
                  <a:pt x="3888952" y="429263"/>
                </a:lnTo>
                <a:lnTo>
                  <a:pt x="0" y="42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5405" t="-1289024" r="0" b="-68816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7870" y="123825"/>
            <a:ext cx="1727226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9"/>
              </a:lnSpc>
            </a:pPr>
            <a:r>
              <a:rPr lang="en-US" b="true" sz="9999">
                <a:solidFill>
                  <a:srgbClr val="121212"/>
                </a:solidFill>
                <a:latin typeface="Fontuna Bold"/>
                <a:ea typeface="Fontuna Bold"/>
                <a:cs typeface="Fontuna Bold"/>
                <a:sym typeface="Fontuna Bold"/>
              </a:rPr>
              <a:t>PRODUCTOS MAS CAROS VS MAS ECONOMICOS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47630" y="1520825"/>
            <a:ext cx="14132500" cy="8559001"/>
          </a:xfrm>
          <a:custGeom>
            <a:avLst/>
            <a:gdLst/>
            <a:ahLst/>
            <a:cxnLst/>
            <a:rect r="r" b="b" t="t" l="l"/>
            <a:pathLst>
              <a:path h="8559001" w="14132500">
                <a:moveTo>
                  <a:pt x="0" y="0"/>
                </a:moveTo>
                <a:lnTo>
                  <a:pt x="14132500" y="0"/>
                </a:lnTo>
                <a:lnTo>
                  <a:pt x="14132500" y="8559001"/>
                </a:lnTo>
                <a:lnTo>
                  <a:pt x="0" y="855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7" t="-4619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32205" y="7690864"/>
            <a:ext cx="675862" cy="464357"/>
          </a:xfrm>
          <a:custGeom>
            <a:avLst/>
            <a:gdLst/>
            <a:ahLst/>
            <a:cxnLst/>
            <a:rect r="r" b="b" t="t" l="l"/>
            <a:pathLst>
              <a:path h="464357" w="675862">
                <a:moveTo>
                  <a:pt x="0" y="0"/>
                </a:moveTo>
                <a:lnTo>
                  <a:pt x="675862" y="0"/>
                </a:lnTo>
                <a:lnTo>
                  <a:pt x="675862" y="464357"/>
                </a:lnTo>
                <a:lnTo>
                  <a:pt x="0" y="464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2627" t="-1141961" r="-115611" b="-60123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91178" y="7690864"/>
            <a:ext cx="3888952" cy="429264"/>
          </a:xfrm>
          <a:custGeom>
            <a:avLst/>
            <a:gdLst/>
            <a:ahLst/>
            <a:cxnLst/>
            <a:rect r="r" b="b" t="t" l="l"/>
            <a:pathLst>
              <a:path h="429264" w="3888952">
                <a:moveTo>
                  <a:pt x="0" y="0"/>
                </a:moveTo>
                <a:lnTo>
                  <a:pt x="3888952" y="0"/>
                </a:lnTo>
                <a:lnTo>
                  <a:pt x="3888952" y="429263"/>
                </a:lnTo>
                <a:lnTo>
                  <a:pt x="0" y="429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5405" t="-1289024" r="0" b="-68816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7870" y="123825"/>
            <a:ext cx="1727226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9"/>
              </a:lnSpc>
            </a:pPr>
            <a:r>
              <a:rPr lang="en-US" b="true" sz="9999">
                <a:solidFill>
                  <a:srgbClr val="121212"/>
                </a:solidFill>
                <a:latin typeface="Fontuna Bold"/>
                <a:ea typeface="Fontuna Bold"/>
                <a:cs typeface="Fontuna Bold"/>
                <a:sym typeface="Fontuna Bold"/>
              </a:rPr>
              <a:t>PRODUCTOS MAS CAROS VS MAS ECONOMICOS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2716" y="8322474"/>
            <a:ext cx="5379467" cy="202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Rumania el Jabon natural con un costo de 1.28 mientras que en españa cuesta 2.90, y en España lo mas economico es la crema de baño con un costo de 2.35 miestras que en Rumania tiene un costo de 1.77</a:t>
            </a:r>
          </a:p>
          <a:p>
            <a:pPr algn="l">
              <a:lnSpc>
                <a:spcPts val="2713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9210675" y="3800494"/>
            <a:ext cx="987905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210675" y="7942092"/>
            <a:ext cx="987905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210675" y="9379903"/>
            <a:ext cx="987905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210675" y="5666975"/>
            <a:ext cx="987905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14694" y="735461"/>
            <a:ext cx="2016224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749971" y="9534209"/>
            <a:ext cx="2066682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723174"/>
            <a:ext cx="16230600" cy="6236041"/>
          </a:xfrm>
          <a:custGeom>
            <a:avLst/>
            <a:gdLst/>
            <a:ahLst/>
            <a:cxnLst/>
            <a:rect r="r" b="b" t="t" l="l"/>
            <a:pathLst>
              <a:path h="6236041" w="16230600">
                <a:moveTo>
                  <a:pt x="0" y="0"/>
                </a:moveTo>
                <a:lnTo>
                  <a:pt x="16230600" y="0"/>
                </a:lnTo>
                <a:lnTo>
                  <a:pt x="16230600" y="6236041"/>
                </a:lnTo>
                <a:lnTo>
                  <a:pt x="0" y="6236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7618" y="1020345"/>
            <a:ext cx="17065057" cy="170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2"/>
              </a:lnSpc>
            </a:pPr>
            <a:r>
              <a:rPr lang="en-US" b="true" sz="12200">
                <a:solidFill>
                  <a:srgbClr val="FFFFFF"/>
                </a:solidFill>
                <a:latin typeface="Fontuna Bold"/>
                <a:ea typeface="Fontuna Bold"/>
                <a:cs typeface="Fontuna Bold"/>
                <a:sym typeface="Fontuna Bold"/>
              </a:rPr>
              <a:t>ANALISIS DE PRODUCTO PRECIO POR CANTIDAD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5400000">
            <a:off x="-5445932" y="4548814"/>
            <a:ext cx="16606910" cy="1189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10"/>
              </a:lnSpc>
            </a:pPr>
            <a:r>
              <a:rPr lang="en-US" b="true" sz="8500">
                <a:solidFill>
                  <a:srgbClr val="121212"/>
                </a:solidFill>
                <a:latin typeface="Fontuna Bold"/>
                <a:ea typeface="Fontuna Bold"/>
                <a:cs typeface="Fontuna Bold"/>
                <a:sym typeface="Fontuna Bold"/>
              </a:rPr>
              <a:t>ANÁLISIS DE ACCESIBILIDAD</a:t>
            </a:r>
          </a:p>
        </p:txBody>
      </p:sp>
      <p:sp>
        <p:nvSpPr>
          <p:cNvPr name="AutoShape 3" id="3"/>
          <p:cNvSpPr/>
          <p:nvPr/>
        </p:nvSpPr>
        <p:spPr>
          <a:xfrm>
            <a:off x="-1460917" y="555069"/>
            <a:ext cx="20162241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983343" y="9731931"/>
            <a:ext cx="20162241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5077337" y="1028700"/>
            <a:ext cx="11255365" cy="8558662"/>
            <a:chOff x="0" y="0"/>
            <a:chExt cx="15007153" cy="114115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007153" cy="5536039"/>
            </a:xfrm>
            <a:custGeom>
              <a:avLst/>
              <a:gdLst/>
              <a:ahLst/>
              <a:cxnLst/>
              <a:rect r="r" b="b" t="t" l="l"/>
              <a:pathLst>
                <a:path h="5536039" w="15007153">
                  <a:moveTo>
                    <a:pt x="0" y="0"/>
                  </a:moveTo>
                  <a:lnTo>
                    <a:pt x="15007153" y="0"/>
                  </a:lnTo>
                  <a:lnTo>
                    <a:pt x="15007153" y="5536039"/>
                  </a:lnTo>
                  <a:lnTo>
                    <a:pt x="0" y="5536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5536039"/>
              <a:ext cx="15007153" cy="5875510"/>
            </a:xfrm>
            <a:custGeom>
              <a:avLst/>
              <a:gdLst/>
              <a:ahLst/>
              <a:cxnLst/>
              <a:rect r="r" b="b" t="t" l="l"/>
              <a:pathLst>
                <a:path h="5875510" w="15007153">
                  <a:moveTo>
                    <a:pt x="0" y="0"/>
                  </a:moveTo>
                  <a:lnTo>
                    <a:pt x="15007153" y="0"/>
                  </a:lnTo>
                  <a:lnTo>
                    <a:pt x="15007153" y="5875510"/>
                  </a:lnTo>
                  <a:lnTo>
                    <a:pt x="0" y="5875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153277"/>
            <a:ext cx="16230600" cy="5535458"/>
          </a:xfrm>
          <a:custGeom>
            <a:avLst/>
            <a:gdLst/>
            <a:ahLst/>
            <a:cxnLst/>
            <a:rect r="r" b="b" t="t" l="l"/>
            <a:pathLst>
              <a:path h="5535458" w="16230600">
                <a:moveTo>
                  <a:pt x="0" y="0"/>
                </a:moveTo>
                <a:lnTo>
                  <a:pt x="16230600" y="0"/>
                </a:lnTo>
                <a:lnTo>
                  <a:pt x="16230600" y="5535459"/>
                </a:lnTo>
                <a:lnTo>
                  <a:pt x="0" y="553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49837"/>
            <a:ext cx="16230600" cy="1887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0"/>
              </a:lnSpc>
            </a:pPr>
            <a:r>
              <a:rPr lang="en-US" b="true" sz="13500">
                <a:solidFill>
                  <a:srgbClr val="121212"/>
                </a:solidFill>
                <a:latin typeface="Fontuna Bold"/>
                <a:ea typeface="Fontuna Bold"/>
                <a:cs typeface="Fontuna Bold"/>
                <a:sym typeface="Fontuna Bold"/>
              </a:rPr>
              <a:t>SEGMENTACION POR GAMA DE PRECIO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60917" y="555069"/>
            <a:ext cx="20162241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983343" y="9731931"/>
            <a:ext cx="20162241" cy="0"/>
          </a:xfrm>
          <a:prstGeom prst="line">
            <a:avLst/>
          </a:prstGeom>
          <a:ln cap="flat" w="1905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981075"/>
            <a:ext cx="7353920" cy="836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1️⃣</a:t>
            </a:r>
            <a:r>
              <a:rPr lang="en-US" sz="2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Análisis general de mercado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España muestra precios más concentrados y estables, mientras que Rumanía presenta mayor dispersión.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unque las variaciones son amplias, la 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accesibilidad es similar en ambos países.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resumen, Rumanía tiene precios menos homogéneos, con mezcla de productos económicos y premium.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2️⃣ </a:t>
            </a:r>
            <a:r>
              <a:rPr lang="en-US" sz="2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Análisis por categorías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Categorías con precios más altos: Rostro y Corporal.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Categorías más accesibles: Cabello y Baño.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mayor diferencia se observa en Rostro, donde los productos premium son más caros en Rumanía.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Cabello mantiene precios similares en ambos mercados.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933450"/>
            <a:ext cx="8115300" cy="886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3️⃣ </a:t>
            </a: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Análisis de productos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ás caros: Serum Facial Premium y Crema Reafirmante, ambos ligeramente más costosos en Rumanía.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ás económicos: Jabón natural y Crema de baño, más baratos en Rumanía.</a:t>
            </a:r>
          </a:p>
          <a:p>
            <a:pPr algn="l" marL="518155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ay diferenci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 de p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ecio para p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roductos idénticos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tre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aís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518155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si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empre hay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relación directa entre tamaño y precio, reflejando un enfoque premium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presentación.</a:t>
            </a:r>
          </a:p>
          <a:p>
            <a:pPr algn="l" marL="518155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4️⃣</a:t>
            </a:r>
            <a:r>
              <a:rPr lang="en-US" b="true" sz="2399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Análisis de accesibilidad (poder adquisitivo)</a:t>
            </a:r>
          </a:p>
          <a:p>
            <a:pPr algn="l" marL="518155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mbos mercados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prom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ed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io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producto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0.7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% del salario mínimo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518155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ñ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un poco más accesible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518155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salario mínimo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se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podrían comprar aprox. 150 productos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España y 135 en Rumanía.</a:t>
            </a:r>
          </a:p>
          <a:p>
            <a:pPr algn="l" marL="518155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Diferencia leve, pero significativa en términos de poder adquisitivo real.</a:t>
            </a:r>
          </a:p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414694" y="735461"/>
            <a:ext cx="2016224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749971" y="9534209"/>
            <a:ext cx="2066682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9397038" y="1115446"/>
            <a:ext cx="7862262" cy="8038778"/>
            <a:chOff x="0" y="0"/>
            <a:chExt cx="1087431" cy="11118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7431" cy="1111845"/>
            </a:xfrm>
            <a:custGeom>
              <a:avLst/>
              <a:gdLst/>
              <a:ahLst/>
              <a:cxnLst/>
              <a:rect r="r" b="b" t="t" l="l"/>
              <a:pathLst>
                <a:path h="1111845" w="1087431">
                  <a:moveTo>
                    <a:pt x="0" y="0"/>
                  </a:moveTo>
                  <a:lnTo>
                    <a:pt x="1087431" y="0"/>
                  </a:lnTo>
                  <a:lnTo>
                    <a:pt x="1087431" y="1111845"/>
                  </a:lnTo>
                  <a:lnTo>
                    <a:pt x="0" y="1111845"/>
                  </a:lnTo>
                  <a:close/>
                </a:path>
              </a:pathLst>
            </a:custGeom>
            <a:blipFill>
              <a:blip r:embed="rId2"/>
              <a:stretch>
                <a:fillRect l="-26731" t="0" r="-2673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2030" y="1066800"/>
            <a:ext cx="8137225" cy="274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9"/>
              </a:lnSpc>
            </a:pPr>
            <a:r>
              <a:rPr lang="en-US" b="true" sz="9999">
                <a:solidFill>
                  <a:srgbClr val="FFFFFF"/>
                </a:solidFill>
                <a:latin typeface="Fontuna Bold"/>
                <a:ea typeface="Fontuna Bold"/>
                <a:cs typeface="Fontuna Bold"/>
                <a:sym typeface="Fontuna Bold"/>
              </a:rPr>
              <a:t>RESPUESTA A LAS HIPÓTESIS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2030" y="3959225"/>
            <a:ext cx="8137225" cy="514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93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Hipótesis principal — Accesibilidad</a:t>
            </a:r>
          </a:p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se cumple.</a:t>
            </a:r>
          </a:p>
          <a:p>
            <a:pPr algn="l" marL="418455" indent="-209227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Los precios son un poco más altos en España, pero ambos países tienen casi la misma accesibilidad.</a:t>
            </a:r>
          </a:p>
          <a:p>
            <a:pPr algn="l" marL="418455" indent="-209227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 un salario mínimo se pueden comprar 150 productos en España y 135 en Rumanía → España es solo un poco más accesible.</a:t>
            </a:r>
          </a:p>
          <a:p>
            <a:pPr algn="l">
              <a:lnSpc>
                <a:spcPts val="2713"/>
              </a:lnSpc>
            </a:pPr>
          </a:p>
          <a:p>
            <a:pPr algn="l">
              <a:lnSpc>
                <a:spcPts val="2713"/>
              </a:lnSpc>
            </a:pPr>
            <a:r>
              <a:rPr lang="en-US" sz="193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Hipótesis secundaria — Estructura de precios / mix</a:t>
            </a:r>
          </a:p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 cumple parcialmente.</a:t>
            </a:r>
          </a:p>
          <a:p>
            <a:pPr algn="l" marL="418455" indent="-209227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ambos países destacan los productos de gama media.</a:t>
            </a:r>
          </a:p>
          <a:p>
            <a:pPr algn="l" marL="418455" indent="-209227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Rumanía tiene más variedad de precios y algunos productos “premium” resultan más caros al</a:t>
            </a:r>
          </a:p>
          <a:p>
            <a:pPr algn="l">
              <a:lnSpc>
                <a:spcPts val="2713"/>
              </a:lnSpc>
            </a:pPr>
          </a:p>
          <a:p>
            <a:pPr algn="l">
              <a:lnSpc>
                <a:spcPts val="2713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94075" y="3328730"/>
            <a:ext cx="12899849" cy="40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81"/>
              </a:lnSpc>
            </a:pPr>
            <a:r>
              <a:rPr lang="en-US" b="true" sz="28850">
                <a:solidFill>
                  <a:srgbClr val="FFFFFF"/>
                </a:solidFill>
                <a:latin typeface="Fontuna Bold"/>
                <a:ea typeface="Fontuna Bold"/>
                <a:cs typeface="Fontuna Bold"/>
                <a:sym typeface="Fontuna Bold"/>
              </a:rPr>
              <a:t>GRACIAS</a:t>
            </a:r>
          </a:p>
        </p:txBody>
      </p:sp>
      <p:sp>
        <p:nvSpPr>
          <p:cNvPr name="AutoShape 3" id="3"/>
          <p:cNvSpPr/>
          <p:nvPr/>
        </p:nvSpPr>
        <p:spPr>
          <a:xfrm>
            <a:off x="-1414694" y="735461"/>
            <a:ext cx="1809809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73453" y="9506079"/>
            <a:ext cx="18243397" cy="28129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683404" y="447513"/>
            <a:ext cx="575896" cy="575896"/>
          </a:xfrm>
          <a:custGeom>
            <a:avLst/>
            <a:gdLst/>
            <a:ahLst/>
            <a:cxnLst/>
            <a:rect r="r" b="b" t="t" l="l"/>
            <a:pathLst>
              <a:path h="575896" w="575896">
                <a:moveTo>
                  <a:pt x="0" y="0"/>
                </a:moveTo>
                <a:lnTo>
                  <a:pt x="575896" y="0"/>
                </a:lnTo>
                <a:lnTo>
                  <a:pt x="575896" y="575896"/>
                </a:lnTo>
                <a:lnTo>
                  <a:pt x="0" y="575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0752" y="9218131"/>
            <a:ext cx="575896" cy="575896"/>
          </a:xfrm>
          <a:custGeom>
            <a:avLst/>
            <a:gdLst/>
            <a:ahLst/>
            <a:cxnLst/>
            <a:rect r="r" b="b" t="t" l="l"/>
            <a:pathLst>
              <a:path h="575896" w="575896">
                <a:moveTo>
                  <a:pt x="0" y="0"/>
                </a:moveTo>
                <a:lnTo>
                  <a:pt x="575896" y="0"/>
                </a:lnTo>
                <a:lnTo>
                  <a:pt x="575896" y="575897"/>
                </a:lnTo>
                <a:lnTo>
                  <a:pt x="0" y="57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DAG3mQfmW0U</dc:identifier>
  <dcterms:modified xsi:type="dcterms:W3CDTF">2011-08-01T06:04:30Z</dcterms:modified>
  <cp:revision>1</cp:revision>
  <dc:title>Presentación Diapositivas Portfolio Fotografía Minimalista Aesthetic Blanco y Negro</dc:title>
</cp:coreProperties>
</file>